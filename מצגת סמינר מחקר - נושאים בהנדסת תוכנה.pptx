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13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27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12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46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90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01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7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310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13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02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80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994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FDCB5-B0E5-47E9-87F1-69BCF675E377}" type="datetimeFigureOut">
              <a:rPr lang="he-IL" smtClean="0"/>
              <a:t>כ"ה/אלול/תשפ"ה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D2F2092-E541-4735-9FF7-1392B2B3CB1B}" type="slidenum">
              <a:rPr lang="he-IL" smtClean="0"/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97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8846668-B9D1-9E3A-8FE4-E8FB2A0999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Too: A No-Code General Purpose Language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DF867BF-52C4-E5FE-172C-5D7324197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771" y="3593412"/>
            <a:ext cx="11766429" cy="1655762"/>
          </a:xfrm>
        </p:spPr>
        <p:txBody>
          <a:bodyPr>
            <a:normAutofit/>
          </a:bodyPr>
          <a:lstStyle/>
          <a:p>
            <a:r>
              <a:rPr lang="he-IL" sz="2000" dirty="0"/>
              <a:t>ע"פ המאמר </a:t>
            </a:r>
            <a:r>
              <a:rPr lang="en-US" sz="2000" dirty="0"/>
              <a:t>Could No-Code Be Code? Toward a No-Code Programming Language for Citizen Developers</a:t>
            </a:r>
            <a:endParaRPr lang="he-IL" sz="2000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25AC774-FC22-F9FA-CA1B-C896C0B866CE}"/>
              </a:ext>
            </a:extLst>
          </p:cNvPr>
          <p:cNvSpPr txBox="1"/>
          <p:nvPr/>
        </p:nvSpPr>
        <p:spPr>
          <a:xfrm>
            <a:off x="4968815" y="4572000"/>
            <a:ext cx="648706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מאמר מאת פרופ' דוד לורנץ ואסף </a:t>
            </a:r>
            <a:r>
              <a:rPr lang="he-IL" dirty="0" err="1"/>
              <a:t>אבישחר</a:t>
            </a:r>
            <a:endParaRPr lang="he-IL" dirty="0"/>
          </a:p>
          <a:p>
            <a:r>
              <a:rPr lang="he-IL" dirty="0"/>
              <a:t>מציגים: יהודה הלר ומשה נמדר</a:t>
            </a:r>
          </a:p>
        </p:txBody>
      </p:sp>
    </p:spTree>
    <p:extLst>
      <p:ext uri="{BB962C8B-B14F-4D97-AF65-F5344CB8AC3E}">
        <p14:creationId xmlns:p14="http://schemas.microsoft.com/office/powerpoint/2010/main" val="718207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171446A-F40D-D33C-A95B-589E9CDF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מבוא: למה צריך את זה?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A52F181-9841-0152-2A04-F0C701EE3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b="1" dirty="0"/>
              <a:t>שפות </a:t>
            </a:r>
            <a:r>
              <a:rPr lang="en-US" b="1" dirty="0"/>
              <a:t>:No-Code / Low-Code</a:t>
            </a:r>
            <a:r>
              <a:rPr lang="he-IL" b="1" dirty="0"/>
              <a:t> </a:t>
            </a:r>
            <a:r>
              <a:rPr lang="he-IL" dirty="0"/>
              <a:t>פשוטות לשימוש, נגישות גם למי שאינם מתכנתים. עם זאת, הן מוגבלות לבעיות או תחומים מסוימים (כמו </a:t>
            </a:r>
            <a:r>
              <a:rPr lang="en-US" dirty="0"/>
              <a:t>IoT</a:t>
            </a:r>
            <a:r>
              <a:rPr lang="he-IL" dirty="0"/>
              <a:t> אפליקציות מובייל או אוטומציה עסקית).</a:t>
            </a:r>
          </a:p>
          <a:p>
            <a:pPr marL="0" indent="0">
              <a:buNone/>
            </a:pPr>
            <a:endParaRPr lang="he-IL" sz="1500" dirty="0"/>
          </a:p>
          <a:p>
            <a:r>
              <a:rPr lang="he-IL" b="1" dirty="0"/>
              <a:t>שפות תכנות כלליות (</a:t>
            </a:r>
            <a:r>
              <a:rPr lang="en-US" b="1" dirty="0"/>
              <a:t>(GPL</a:t>
            </a:r>
            <a:r>
              <a:rPr lang="he-IL" b="1" dirty="0"/>
              <a:t>: </a:t>
            </a:r>
            <a:r>
              <a:rPr lang="he-IL" dirty="0"/>
              <a:t>חזקות וגמישות, אך דורשות ידע רב, והן מורכבות מדי למפתחים ללא ידע טכנולוגי.</a:t>
            </a:r>
          </a:p>
          <a:p>
            <a:pPr marL="0" indent="0">
              <a:buNone/>
            </a:pPr>
            <a:endParaRPr lang="he-IL" sz="1500" dirty="0"/>
          </a:p>
          <a:p>
            <a:r>
              <a:rPr lang="he-IL" b="1" dirty="0"/>
              <a:t>התוצאה: </a:t>
            </a:r>
            <a:r>
              <a:rPr lang="he-IL" dirty="0"/>
              <a:t>נוצר פער גדול בין מפתחים ללא רקע טכנולוגי לבין מפתחים מקצועיים.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1449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40B40D-A793-6462-F69A-C71F379AF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37641"/>
            <a:ext cx="9603275" cy="1049235"/>
          </a:xfrm>
        </p:spPr>
        <p:txBody>
          <a:bodyPr/>
          <a:lstStyle/>
          <a:p>
            <a:pPr algn="r"/>
            <a:r>
              <a:rPr lang="he-IL" dirty="0"/>
              <a:t>מטרות המאמר: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10E5D8-42E4-C935-325A-0C95CE7BD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להציג את </a:t>
            </a:r>
            <a:r>
              <a:rPr lang="en-US" dirty="0"/>
              <a:t>Too</a:t>
            </a:r>
            <a:r>
              <a:rPr lang="he-IL" dirty="0"/>
              <a:t> - שפה ראשונה שמשלבת פשטות של </a:t>
            </a:r>
            <a:r>
              <a:rPr lang="en-US" dirty="0"/>
              <a:t>No-Code </a:t>
            </a:r>
            <a:r>
              <a:rPr lang="he-IL" dirty="0"/>
              <a:t> עם עוצמה של </a:t>
            </a:r>
            <a:r>
              <a:rPr lang="en-US" dirty="0"/>
              <a:t>GPL</a:t>
            </a:r>
            <a:endParaRPr lang="he-IL" dirty="0"/>
          </a:p>
          <a:p>
            <a:endParaRPr lang="en-US" sz="1400" dirty="0"/>
          </a:p>
          <a:p>
            <a:r>
              <a:rPr lang="he-IL" dirty="0"/>
              <a:t>לאפשר לכל משתמש, גם לא מתכנת, לבנות תוכנות – החל מתוכניות פשוטות ועד מערכות ענן מורכבות.</a:t>
            </a:r>
          </a:p>
          <a:p>
            <a:endParaRPr lang="he-IL" sz="1400" dirty="0"/>
          </a:p>
          <a:p>
            <a:r>
              <a:rPr lang="he-IL" dirty="0"/>
              <a:t>ליצור שפה אחת משותפת שתשמש גם אנשים שאינם מתכנתים וגם מקצוענים, ותאפשר שיתוף פעולה אמיתי.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21476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6FFDF2-65A3-4885-F7B7-BAC94DCEB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עקרונות השפה </a:t>
            </a:r>
            <a:r>
              <a:rPr lang="en-US" dirty="0"/>
              <a:t>Too</a:t>
            </a:r>
            <a:r>
              <a:rPr lang="he-IL" dirty="0"/>
              <a:t>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B763808-FA11-4E53-B52F-E93CD8209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e-IL" dirty="0"/>
              <a:t>הכל הוא </a:t>
            </a:r>
            <a:r>
              <a:rPr lang="en-US" dirty="0"/>
              <a:t>Thing </a:t>
            </a:r>
            <a:r>
              <a:rPr lang="he-IL" dirty="0"/>
              <a:t> - כל רכיב במערכת מיוצג כ</a:t>
            </a:r>
            <a:r>
              <a:rPr lang="en-US" dirty="0"/>
              <a:t>Thing-</a:t>
            </a:r>
            <a:r>
              <a:rPr lang="he-IL" dirty="0"/>
              <a:t>:</a:t>
            </a:r>
            <a:endParaRPr lang="en-US" dirty="0"/>
          </a:p>
          <a:p>
            <a:pPr marL="0" indent="0">
              <a:buNone/>
            </a:pPr>
            <a:br>
              <a:rPr lang="en-US" sz="800" dirty="0"/>
            </a:br>
            <a:r>
              <a:rPr lang="he-IL" dirty="0"/>
              <a:t>	- </a:t>
            </a:r>
            <a:r>
              <a:rPr lang="en-US" dirty="0"/>
              <a:t>Members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	- </a:t>
            </a:r>
            <a:r>
              <a:rPr lang="en-US" dirty="0"/>
              <a:t>Signals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	- </a:t>
            </a:r>
            <a:r>
              <a:rPr lang="en-US" dirty="0"/>
              <a:t>Rules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	- </a:t>
            </a:r>
            <a:r>
              <a:rPr lang="en-US" dirty="0"/>
              <a:t>Functions</a:t>
            </a:r>
          </a:p>
          <a:p>
            <a:pPr marL="0" indent="0">
              <a:buNone/>
            </a:pPr>
            <a:endParaRPr lang="en-US" sz="1500" dirty="0"/>
          </a:p>
          <a:p>
            <a:r>
              <a:rPr lang="he-IL" dirty="0"/>
              <a:t>השפה מבוססת על אירועים </a:t>
            </a:r>
            <a:r>
              <a:rPr lang="en-US" dirty="0"/>
              <a:t>(Event-driven)</a:t>
            </a:r>
          </a:p>
          <a:p>
            <a:r>
              <a:rPr lang="he-IL" dirty="0"/>
              <a:t>תחביר מינימליסטי: 5 אופרטורים בלבד ו־10 כללי תחביר.</a:t>
            </a:r>
          </a:p>
          <a:p>
            <a:r>
              <a:rPr lang="he-IL" dirty="0"/>
              <a:t>שתי צורות עבודה: ויזואלי או טקסט</a:t>
            </a:r>
          </a:p>
        </p:txBody>
      </p:sp>
    </p:spTree>
    <p:extLst>
      <p:ext uri="{BB962C8B-B14F-4D97-AF65-F5344CB8AC3E}">
        <p14:creationId xmlns:p14="http://schemas.microsoft.com/office/powerpoint/2010/main" val="388986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481EF1-6DE3-65E0-FB7D-8A2A9CC5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דוגמה: </a:t>
            </a:r>
            <a:r>
              <a:rPr lang="en-US" dirty="0"/>
              <a:t>Logger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C337954-DA61-DCCB-1C71-658E4583F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2955" cy="4351338"/>
          </a:xfrm>
        </p:spPr>
        <p:txBody>
          <a:bodyPr/>
          <a:lstStyle/>
          <a:p>
            <a:pPr>
              <a:buNone/>
            </a:pPr>
            <a:r>
              <a:rPr lang="he-IL" dirty="0"/>
              <a:t>ה־</a:t>
            </a:r>
            <a:r>
              <a:rPr lang="en-US" dirty="0"/>
              <a:t>Logger </a:t>
            </a:r>
            <a:r>
              <a:rPr lang="he-IL" dirty="0"/>
              <a:t> הוא דוגמה לתוכנית פשוטה ב־</a:t>
            </a:r>
            <a:r>
              <a:rPr lang="en-US" dirty="0"/>
              <a:t>Too</a:t>
            </a:r>
            <a:r>
              <a:rPr lang="he-IL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כל דקה – קריאת נתונים מחיישני טמפרטורה.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שמירה של הנתונים בסטטיסטיקה פנימית.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חישוב ממוצע וסטיית תקן.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כתיבה ל־</a:t>
            </a:r>
            <a:r>
              <a:rPr lang="en-US" dirty="0"/>
              <a:t>Google Sheet</a:t>
            </a:r>
            <a:r>
              <a:rPr lang="he-IL" dirty="0"/>
              <a:t>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he-IL" dirty="0"/>
              <a:t>שידור</a:t>
            </a:r>
            <a:r>
              <a:rPr lang="en-US" dirty="0"/>
              <a:t>Signal </a:t>
            </a:r>
            <a:r>
              <a:rPr lang="he-IL" dirty="0"/>
              <a:t> שמודיע לתוכנות אחרות שהתבצע עדכון.</a:t>
            </a:r>
          </a:p>
          <a:p>
            <a:pPr>
              <a:buNone/>
            </a:pPr>
            <a:r>
              <a:rPr lang="he-IL" dirty="0"/>
              <a:t>כל זה נבנה בקלות, באמצעות תרשים זרימה פשוט או כמה שורות קוד קצרות.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32077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7D962248-A144-483C-3400-EC5F11A3B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73" y="771154"/>
            <a:ext cx="5553850" cy="5315692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B9178BC-02E5-2332-3CFD-81D242319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712" y="599563"/>
            <a:ext cx="6130114" cy="272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7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CE4C3EB-7A07-C685-96E5-685129583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דוגמא נוספת: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E39C330F-A946-C1B6-C05A-EB5566369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961" y="1980866"/>
            <a:ext cx="8811455" cy="456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83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454F12D-A40B-0CF0-888B-E1D1C14C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סביבת פיתוח בענן </a:t>
            </a:r>
            <a:r>
              <a:rPr lang="en-US" dirty="0"/>
              <a:t>CDE)</a:t>
            </a:r>
            <a:r>
              <a:rPr lang="he-IL" dirty="0"/>
              <a:t>):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00EDE99-50DC-52F2-D58A-1052AC5A5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he-IL" dirty="0"/>
              <a:t>הפיתוח נעשה ב - </a:t>
            </a:r>
            <a:r>
              <a:rPr lang="en-US" dirty="0"/>
              <a:t>Cloud Development Environment</a:t>
            </a:r>
            <a:endParaRPr lang="he-IL" dirty="0"/>
          </a:p>
          <a:p>
            <a:endParaRPr lang="en-US" sz="500" dirty="0"/>
          </a:p>
          <a:p>
            <a:r>
              <a:rPr lang="he-IL" dirty="0"/>
              <a:t>משתמשים יכולים לערוך תוכניות באמצעות </a:t>
            </a:r>
            <a:r>
              <a:rPr lang="en-US" dirty="0" err="1"/>
              <a:t>Projectional</a:t>
            </a:r>
            <a:r>
              <a:rPr lang="en-US" dirty="0"/>
              <a:t> Editing</a:t>
            </a:r>
          </a:p>
          <a:p>
            <a:endParaRPr lang="en-US" sz="500" dirty="0"/>
          </a:p>
          <a:p>
            <a:r>
              <a:rPr lang="he-IL" dirty="0"/>
              <a:t>גרירה ושחרור של רכיבים.</a:t>
            </a:r>
          </a:p>
          <a:p>
            <a:endParaRPr lang="he-IL" sz="500" dirty="0"/>
          </a:p>
          <a:p>
            <a:r>
              <a:rPr lang="he-IL" dirty="0"/>
              <a:t>תרשימי זרימה אינטואיטיביים.</a:t>
            </a:r>
          </a:p>
          <a:p>
            <a:endParaRPr lang="he-IL" sz="500" dirty="0"/>
          </a:p>
          <a:p>
            <a:r>
              <a:rPr lang="he-IL" dirty="0"/>
              <a:t>תפריטי </a:t>
            </a:r>
            <a:r>
              <a:rPr lang="en-US" dirty="0"/>
              <a:t>Drop-down </a:t>
            </a:r>
            <a:r>
              <a:rPr lang="he-IL" dirty="0"/>
              <a:t> שמציגים רק אפשרויות חוקיות.</a:t>
            </a:r>
          </a:p>
          <a:p>
            <a:endParaRPr lang="he-IL" sz="500" dirty="0"/>
          </a:p>
          <a:p>
            <a:r>
              <a:rPr lang="he-IL" dirty="0"/>
              <a:t>ניתן לעבור בכל רגע בין ייצוג טקסטואלי לבין ייצוג גרפי.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39965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9B6BD-3A5F-E780-32AD-A059EF7D7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:Thing Broker (Marketplace)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9636EFD-456F-1460-68DC-F72617A1D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חנות רכיבים בענן – מאפשרת שיתוף ושימוש חוזר.</a:t>
            </a:r>
          </a:p>
          <a:p>
            <a:r>
              <a:rPr lang="he-IL" dirty="0"/>
              <a:t>פונקציות מרכזיות:</a:t>
            </a:r>
          </a:p>
          <a:p>
            <a:pPr lvl="1"/>
            <a:r>
              <a:rPr lang="he-IL" dirty="0"/>
              <a:t>חיפוש והורדת </a:t>
            </a:r>
            <a:r>
              <a:rPr lang="en-US" dirty="0"/>
              <a:t>Things</a:t>
            </a:r>
            <a:r>
              <a:rPr lang="he-IL" dirty="0"/>
              <a:t>.</a:t>
            </a:r>
            <a:endParaRPr lang="en-US" dirty="0"/>
          </a:p>
          <a:p>
            <a:pPr lvl="1"/>
            <a:r>
              <a:rPr lang="he-IL" dirty="0"/>
              <a:t>פרסום רכיבים חדשים.</a:t>
            </a:r>
          </a:p>
          <a:p>
            <a:pPr lvl="1"/>
            <a:r>
              <a:rPr lang="he-IL" dirty="0"/>
              <a:t>דירוגים וביקורות מהקהילה.</a:t>
            </a:r>
          </a:p>
          <a:p>
            <a:pPr lvl="1"/>
            <a:r>
              <a:rPr lang="he-IL" dirty="0"/>
              <a:t>אפשרות למסחור (תשלום חד־פעמי או מנוי).</a:t>
            </a:r>
          </a:p>
          <a:p>
            <a:r>
              <a:rPr lang="he-IL" dirty="0"/>
              <a:t>השוק של </a:t>
            </a:r>
            <a:r>
              <a:rPr lang="en-US" dirty="0"/>
              <a:t>Too </a:t>
            </a:r>
            <a:r>
              <a:rPr lang="he-IL" dirty="0"/>
              <a:t> הוא שילוב של </a:t>
            </a:r>
            <a:r>
              <a:rPr lang="en-US" dirty="0"/>
              <a:t>GitHub</a:t>
            </a:r>
            <a:r>
              <a:rPr lang="he-IL" dirty="0"/>
              <a:t> ושל </a:t>
            </a:r>
            <a:r>
              <a:rPr lang="en-US" dirty="0"/>
              <a:t>AppStore</a:t>
            </a:r>
            <a:r>
              <a:rPr lang="he-I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5885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ECA738-7E3E-82A0-C74F-30AB4CAB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מבנה פנימי (</a:t>
            </a:r>
            <a:r>
              <a:rPr lang="en-US" dirty="0"/>
              <a:t>Internals</a:t>
            </a:r>
            <a:r>
              <a:rPr lang="he-IL" dirty="0"/>
              <a:t>):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60D521-1257-A7D9-6596-36DD8E306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Scheduler </a:t>
            </a:r>
            <a:r>
              <a:rPr lang="he-IL" dirty="0"/>
              <a:t>מתזמן את כל האירועים במערכת.</a:t>
            </a:r>
          </a:p>
          <a:p>
            <a:r>
              <a:rPr lang="he-IL" dirty="0"/>
              <a:t>כל</a:t>
            </a:r>
            <a:r>
              <a:rPr lang="en-US" dirty="0"/>
              <a:t> Thing </a:t>
            </a:r>
            <a:r>
              <a:rPr lang="he-IL" dirty="0"/>
              <a:t>עצמאי ושומר מצב פנימי משלו.</a:t>
            </a:r>
          </a:p>
          <a:p>
            <a:r>
              <a:rPr lang="he-IL" dirty="0"/>
              <a:t>תמיכה מובנית ב</a:t>
            </a:r>
            <a:r>
              <a:rPr lang="en-US" dirty="0"/>
              <a:t>Hot-Plugging - </a:t>
            </a:r>
            <a:r>
              <a:rPr lang="he-IL" dirty="0"/>
              <a:t> ניתן להוסיף או להחליף רכיבים בזמן שהתוכנית רצה.</a:t>
            </a:r>
          </a:p>
          <a:p>
            <a:r>
              <a:rPr lang="en-US" dirty="0"/>
              <a:t>Cloud-native </a:t>
            </a:r>
            <a:r>
              <a:rPr lang="he-IL" dirty="0"/>
              <a:t> - המערכת בנויה מראש לפיזור על פני שרתים שונים בענן, בלי שהמשתמש יתעסק בפרטי תקשורת.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77820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D206B8-6984-96CF-BD58-BAAA9019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כלים דומים לעומת </a:t>
            </a:r>
            <a:r>
              <a:rPr lang="en-US" dirty="0"/>
              <a:t>:Too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476FE7F-E059-2E0C-5C4C-0EA643708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Scratch, App Inventor </a:t>
            </a:r>
            <a:r>
              <a:rPr lang="he-IL" dirty="0"/>
              <a:t> - כלים חינוכיים, מותאמים לילדים ותלמידים.</a:t>
            </a:r>
          </a:p>
          <a:p>
            <a:r>
              <a:rPr lang="en-US" dirty="0"/>
              <a:t>Node-RED </a:t>
            </a:r>
            <a:r>
              <a:rPr lang="he-IL" dirty="0"/>
              <a:t> - ממוקד ב-</a:t>
            </a:r>
            <a:r>
              <a:rPr lang="en-US" dirty="0"/>
              <a:t>IoT </a:t>
            </a:r>
            <a:r>
              <a:rPr lang="he-IL" dirty="0"/>
              <a:t> וזרימות נתונים.</a:t>
            </a:r>
          </a:p>
          <a:p>
            <a:r>
              <a:rPr lang="en-US" dirty="0"/>
              <a:t>Power Apps, </a:t>
            </a:r>
            <a:r>
              <a:rPr lang="en-US" dirty="0" err="1"/>
              <a:t>Mendix</a:t>
            </a:r>
            <a:r>
              <a:rPr lang="en-US" dirty="0"/>
              <a:t> </a:t>
            </a:r>
            <a:r>
              <a:rPr lang="he-IL" dirty="0"/>
              <a:t> - פלטפורמות עסקיות.</a:t>
            </a:r>
          </a:p>
          <a:p>
            <a:pPr marL="0" indent="0">
              <a:buNone/>
            </a:pPr>
            <a:r>
              <a:rPr lang="he-IL" dirty="0"/>
              <a:t>מגבלות כל הכלים: לא שפות כלליות (</a:t>
            </a:r>
            <a:r>
              <a:rPr lang="en-US" dirty="0"/>
              <a:t>GPL</a:t>
            </a:r>
            <a:r>
              <a:rPr lang="he-IL" dirty="0"/>
              <a:t>), קושי להתרחב.</a:t>
            </a:r>
          </a:p>
          <a:p>
            <a:pPr marL="0" indent="0">
              <a:buNone/>
            </a:pPr>
            <a:endParaRPr lang="he-IL" dirty="0"/>
          </a:p>
          <a:p>
            <a:r>
              <a:rPr lang="en-US" dirty="0"/>
              <a:t>Too </a:t>
            </a:r>
            <a:r>
              <a:rPr lang="he-IL" dirty="0"/>
              <a:t> שפה כללית, פתוחה, </a:t>
            </a:r>
            <a:r>
              <a:rPr lang="he-IL" dirty="0" err="1"/>
              <a:t>עננית</a:t>
            </a:r>
            <a:r>
              <a:rPr lang="he-IL" dirty="0"/>
              <a:t>, ומבוססת קהילה.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945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1E11023-B68F-85F3-B349-AE374EE1A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סיכום: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8A7E473-7129-1CC1-D338-BABFCD3FE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 </a:t>
            </a:r>
            <a:r>
              <a:rPr lang="he-IL" dirty="0"/>
              <a:t> משלבת בין פשטות של </a:t>
            </a:r>
            <a:r>
              <a:rPr lang="en-US" dirty="0"/>
              <a:t>No-Code </a:t>
            </a:r>
            <a:r>
              <a:rPr lang="he-IL" dirty="0"/>
              <a:t> לבין עוצמה של </a:t>
            </a:r>
            <a:r>
              <a:rPr lang="en-US" dirty="0"/>
              <a:t>GPL</a:t>
            </a:r>
            <a:r>
              <a:rPr lang="he-IL" dirty="0"/>
              <a:t>.</a:t>
            </a:r>
          </a:p>
          <a:p>
            <a:endParaRPr lang="en-US" sz="500" dirty="0"/>
          </a:p>
          <a:p>
            <a:r>
              <a:rPr lang="he-IL" dirty="0"/>
              <a:t>השפה בנויה לענן, מבוססת אירועים, עם </a:t>
            </a:r>
            <a:r>
              <a:rPr lang="he-IL" dirty="0" err="1"/>
              <a:t>אקו־סיסטם</a:t>
            </a:r>
            <a:r>
              <a:rPr lang="he-IL" dirty="0"/>
              <a:t> פתוח של רכיבים.</a:t>
            </a:r>
          </a:p>
          <a:p>
            <a:endParaRPr lang="he-IL" sz="500" dirty="0"/>
          </a:p>
          <a:p>
            <a:r>
              <a:rPr lang="he-IL" dirty="0"/>
              <a:t>מתאימה גם לאנשים ללא רקע טכנולוגי וגם למפתחים מקצועיים.</a:t>
            </a:r>
          </a:p>
          <a:p>
            <a:endParaRPr lang="he-IL" sz="500" dirty="0"/>
          </a:p>
          <a:p>
            <a:r>
              <a:rPr lang="he-IL" dirty="0"/>
              <a:t>החזון: דמוקרטיזציה של תכנות – להפוך את הפיתוח לנגיש לכולם.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40712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98F665-36A0-8811-686D-49B6BB66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רעיונות שחשבנו למשהו מעבר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0BD052E-A0E4-8CD9-4864-E65D71AB8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אימון מודל </a:t>
            </a:r>
            <a:r>
              <a:rPr lang="en-US" dirty="0"/>
              <a:t>LLM</a:t>
            </a:r>
            <a:r>
              <a:rPr lang="he-IL" dirty="0"/>
              <a:t> על שפת </a:t>
            </a:r>
            <a:r>
              <a:rPr lang="en-US" dirty="0"/>
              <a:t>Too</a:t>
            </a:r>
          </a:p>
          <a:p>
            <a:r>
              <a:rPr lang="he-IL" dirty="0"/>
              <a:t>מחקר המשך האם כלי ה</a:t>
            </a:r>
            <a:r>
              <a:rPr lang="en-US" dirty="0"/>
              <a:t>AI</a:t>
            </a:r>
            <a:r>
              <a:rPr lang="he-IL" dirty="0"/>
              <a:t> הם תחליף ל</a:t>
            </a:r>
            <a:r>
              <a:rPr lang="en-US" dirty="0"/>
              <a:t>no-code</a:t>
            </a:r>
            <a:r>
              <a:rPr lang="he-IL" dirty="0"/>
              <a:t>?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96985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EAD25C9-2515-5773-7697-7B57CBD17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039" y="2015732"/>
            <a:ext cx="10062816" cy="3936495"/>
          </a:xfrm>
        </p:spPr>
        <p:txBody>
          <a:bodyPr>
            <a:normAutofit/>
          </a:bodyPr>
          <a:lstStyle/>
          <a:p>
            <a:r>
              <a:rPr lang="en-US" dirty="0"/>
              <a:t> - </a:t>
            </a:r>
            <a:r>
              <a:rPr lang="en-US" b="1" dirty="0"/>
              <a:t>Blockly</a:t>
            </a:r>
            <a:r>
              <a:rPr lang="en-US" dirty="0"/>
              <a:t> </a:t>
            </a:r>
            <a:r>
              <a:rPr lang="he-IL" dirty="0"/>
              <a:t>לא ראינו שילוב </a:t>
            </a:r>
            <a:r>
              <a:rPr lang="en-US" dirty="0"/>
              <a:t> AI</a:t>
            </a:r>
            <a:r>
              <a:rPr lang="he-IL" dirty="0"/>
              <a:t>ברור, בנוסף לא ראינו בתיעוד שקיים</a:t>
            </a:r>
            <a:r>
              <a:rPr lang="en-US" dirty="0"/>
              <a:t>AI </a:t>
            </a:r>
            <a:r>
              <a:rPr lang="he-IL" dirty="0"/>
              <a:t> מובנה </a:t>
            </a:r>
          </a:p>
          <a:p>
            <a:r>
              <a:rPr lang="en-US" b="1" dirty="0"/>
              <a:t>Bolt</a:t>
            </a:r>
            <a:r>
              <a:rPr lang="he-IL" dirty="0"/>
              <a:t> – המשתמש מתאר ב-</a:t>
            </a:r>
            <a:r>
              <a:rPr lang="en-US" dirty="0"/>
              <a:t>prompt </a:t>
            </a:r>
            <a:r>
              <a:rPr lang="he-IL" dirty="0"/>
              <a:t> את הבקשה, וה-</a:t>
            </a:r>
            <a:r>
              <a:rPr lang="en-US" dirty="0"/>
              <a:t> AI </a:t>
            </a:r>
            <a:r>
              <a:rPr lang="he-IL" dirty="0"/>
              <a:t>מייצר אפליקציית</a:t>
            </a:r>
            <a:r>
              <a:rPr lang="en-US" dirty="0"/>
              <a:t> Web </a:t>
            </a:r>
            <a:r>
              <a:rPr lang="he-IL" dirty="0"/>
              <a:t>מוכנה לשימוש. שינויים מתבצעים רק באמצעות</a:t>
            </a:r>
            <a:r>
              <a:rPr lang="en-US" dirty="0"/>
              <a:t>prompt </a:t>
            </a:r>
            <a:r>
              <a:rPr lang="he-IL" dirty="0"/>
              <a:t> נוסף.</a:t>
            </a:r>
          </a:p>
          <a:p>
            <a:r>
              <a:rPr lang="en-US" dirty="0"/>
              <a:t>- </a:t>
            </a:r>
            <a:r>
              <a:rPr lang="en-US" b="1" dirty="0"/>
              <a:t>Glide</a:t>
            </a:r>
            <a:r>
              <a:rPr lang="en-US" dirty="0"/>
              <a:t> </a:t>
            </a:r>
            <a:r>
              <a:rPr lang="he-IL" dirty="0"/>
              <a:t>ראינו שה-</a:t>
            </a:r>
            <a:r>
              <a:rPr lang="en-US" dirty="0"/>
              <a:t>AI </a:t>
            </a:r>
            <a:r>
              <a:rPr lang="he-IL" dirty="0"/>
              <a:t> מייצר אפליקציות </a:t>
            </a:r>
            <a:r>
              <a:rPr lang="en-US" dirty="0"/>
              <a:t>Web </a:t>
            </a:r>
            <a:r>
              <a:rPr lang="he-IL" dirty="0"/>
              <a:t> המבוססות על רכיבים (מסכים, טבלאות, פעולות) לפי בקשה בשפה טבעית. המשתמש יכול להמשיך לערוך את האפליקציה בעורך הוויזואלי.</a:t>
            </a:r>
          </a:p>
          <a:p>
            <a:endParaRPr lang="he-IL" dirty="0"/>
          </a:p>
          <a:p>
            <a:pPr marL="0" indent="0">
              <a:buNone/>
            </a:pPr>
            <a:r>
              <a:rPr lang="he-IL" dirty="0"/>
              <a:t>שלושת הכלים מציגים שלוש רמות שונות של שילוב: היעדר </a:t>
            </a:r>
            <a:r>
              <a:rPr lang="en-US" dirty="0"/>
              <a:t>AI</a:t>
            </a:r>
            <a:r>
              <a:rPr lang="he-IL" dirty="0"/>
              <a:t> </a:t>
            </a:r>
            <a:r>
              <a:rPr lang="he-IL" b="1" dirty="0"/>
              <a:t>(</a:t>
            </a:r>
            <a:r>
              <a:rPr lang="en-US" b="1" dirty="0"/>
              <a:t>Blockly</a:t>
            </a:r>
            <a:r>
              <a:rPr lang="he-IL" b="1" dirty="0"/>
              <a:t>), </a:t>
            </a:r>
            <a:r>
              <a:rPr lang="he-IL" dirty="0"/>
              <a:t>שילוב חלקי </a:t>
            </a:r>
            <a:r>
              <a:rPr lang="he-IL" b="1" dirty="0"/>
              <a:t>(</a:t>
            </a:r>
            <a:r>
              <a:rPr lang="en-US" b="1" dirty="0"/>
              <a:t>Glide</a:t>
            </a:r>
            <a:r>
              <a:rPr lang="he-IL" b="1" dirty="0"/>
              <a:t>), </a:t>
            </a:r>
            <a:r>
              <a:rPr lang="he-IL" dirty="0"/>
              <a:t>ואינטגרציה מלאה </a:t>
            </a:r>
            <a:r>
              <a:rPr lang="he-IL" b="1" dirty="0"/>
              <a:t>(</a:t>
            </a:r>
            <a:r>
              <a:rPr lang="en-US" b="1" dirty="0"/>
              <a:t>Glide</a:t>
            </a:r>
            <a:r>
              <a:rPr lang="he-IL" b="1" dirty="0"/>
              <a:t>).</a:t>
            </a:r>
            <a:endParaRPr lang="he-IL"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24BE456D-BA05-4ECD-BE3B-6B226337A8E0}"/>
              </a:ext>
            </a:extLst>
          </p:cNvPr>
          <p:cNvSpPr txBox="1"/>
          <p:nvPr/>
        </p:nvSpPr>
        <p:spPr>
          <a:xfrm>
            <a:off x="7729267" y="905773"/>
            <a:ext cx="365590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dirty="0"/>
              <a:t>מה בדקנו וראינו:</a:t>
            </a:r>
          </a:p>
        </p:txBody>
      </p:sp>
    </p:spTree>
    <p:extLst>
      <p:ext uri="{BB962C8B-B14F-4D97-AF65-F5344CB8AC3E}">
        <p14:creationId xmlns:p14="http://schemas.microsoft.com/office/powerpoint/2010/main" val="900748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C6B7261-950D-5BA6-92BB-7F5CF72E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יחסי הגומלין:</a:t>
            </a:r>
            <a:br>
              <a:rPr lang="he-IL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98AB5BD-897F-E84F-11B9-D0C5AF210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502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he-IL" dirty="0"/>
              <a:t>יחסי הגומלין בין </a:t>
            </a:r>
            <a:r>
              <a:rPr lang="en-US" dirty="0"/>
              <a:t>AI </a:t>
            </a:r>
            <a:r>
              <a:rPr lang="he-IL" dirty="0"/>
              <a:t> ל-</a:t>
            </a:r>
            <a:r>
              <a:rPr lang="en-US" dirty="0"/>
              <a:t> No-Code </a:t>
            </a:r>
            <a:r>
              <a:rPr lang="he-IL" dirty="0"/>
              <a:t>הם יחסי השלמה ולא תחרות:</a:t>
            </a:r>
          </a:p>
          <a:p>
            <a:r>
              <a:rPr lang="en-US" dirty="0"/>
              <a:t>AI </a:t>
            </a:r>
            <a:r>
              <a:rPr lang="he-IL" dirty="0"/>
              <a:t> זקוק לפלטפורמות שמקלות על המשתמשים להטמיע אותו.</a:t>
            </a:r>
          </a:p>
          <a:p>
            <a:r>
              <a:rPr lang="en-US" dirty="0"/>
              <a:t> AI </a:t>
            </a:r>
            <a:r>
              <a:rPr lang="he-IL" dirty="0"/>
              <a:t>עושה את</a:t>
            </a:r>
            <a:r>
              <a:rPr lang="en-US" dirty="0"/>
              <a:t>No-Code </a:t>
            </a:r>
            <a:r>
              <a:rPr lang="he-IL" dirty="0"/>
              <a:t> יותר חכם ויעיל.</a:t>
            </a:r>
            <a:endParaRPr lang="en-US" dirty="0"/>
          </a:p>
          <a:p>
            <a:r>
              <a:rPr lang="en-US" dirty="0"/>
              <a:t> No-Code</a:t>
            </a:r>
            <a:r>
              <a:rPr lang="he-IL" dirty="0"/>
              <a:t>מאפשר ל-</a:t>
            </a:r>
            <a:r>
              <a:rPr lang="en-US" dirty="0"/>
              <a:t> AI </a:t>
            </a:r>
            <a:r>
              <a:rPr lang="he-IL" dirty="0"/>
              <a:t>להגיע לקהל רחב, גם לאנשים בלי רקע טכני.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</a:t>
            </a:r>
            <a:r>
              <a:rPr lang="he-IL" dirty="0"/>
              <a:t> מספק את האוטומציה, היצירה והאינטליגנציה.</a:t>
            </a:r>
          </a:p>
          <a:p>
            <a:r>
              <a:rPr lang="en-US" dirty="0"/>
              <a:t>No-Code </a:t>
            </a:r>
            <a:r>
              <a:rPr lang="he-IL" dirty="0"/>
              <a:t> מספק את המסגרת הקריאה, המאובטחת והנגישה.</a:t>
            </a:r>
          </a:p>
          <a:p>
            <a:pPr>
              <a:buFont typeface="Arial" panose="020B0604020202020204" pitchFamily="34" charset="0"/>
              <a:buChar char="•"/>
            </a:pPr>
            <a:endParaRPr lang="he-IL" dirty="0"/>
          </a:p>
          <a:p>
            <a:pPr marL="0" indent="0">
              <a:buNone/>
            </a:pPr>
            <a:r>
              <a:rPr lang="he-IL" dirty="0"/>
              <a:t>ביחד הם יוצרים פלטפורמה חזקה יותר מהחלקים בנפרד.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83964955"/>
      </p:ext>
    </p:extLst>
  </p:cSld>
  <p:clrMapOvr>
    <a:masterClrMapping/>
  </p:clrMapOvr>
</p:sld>
</file>

<file path=ppt/theme/theme1.xml><?xml version="1.0" encoding="utf-8"?>
<a:theme xmlns:a="http://schemas.openxmlformats.org/drawingml/2006/main" name="גלריה">
  <a:themeElements>
    <a:clrScheme name="גלריה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גלריה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גלריה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גלריה</Template>
  <TotalTime>1321</TotalTime>
  <Words>737</Words>
  <Application>Microsoft Office PowerPoint</Application>
  <PresentationFormat>מסך רחב</PresentationFormat>
  <Paragraphs>93</Paragraphs>
  <Slides>15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גלריה</vt:lpstr>
      <vt:lpstr>Too: A No-Code General Purpose Language</vt:lpstr>
      <vt:lpstr>מבוא: למה צריך את זה?</vt:lpstr>
      <vt:lpstr>מטרות המאמר:</vt:lpstr>
      <vt:lpstr>עקרונות השפה Too:</vt:lpstr>
      <vt:lpstr>דוגמה: Logger</vt:lpstr>
      <vt:lpstr>מצגת של PowerPoint‏</vt:lpstr>
      <vt:lpstr>דוגמא נוספת:</vt:lpstr>
      <vt:lpstr>סביבת פיתוח בענן CDE)):</vt:lpstr>
      <vt:lpstr>:Thing Broker (Marketplace)</vt:lpstr>
      <vt:lpstr>מבנה פנימי (Internals):</vt:lpstr>
      <vt:lpstr>כלים דומים לעומת :Too</vt:lpstr>
      <vt:lpstr>סיכום:</vt:lpstr>
      <vt:lpstr>רעיונות שחשבנו למשהו מעבר</vt:lpstr>
      <vt:lpstr>מצגת של PowerPoint‏</vt:lpstr>
      <vt:lpstr>יחסי הגומלין: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Moshe Namdar</dc:creator>
  <cp:lastModifiedBy>Moshe Namdar</cp:lastModifiedBy>
  <cp:revision>14</cp:revision>
  <dcterms:created xsi:type="dcterms:W3CDTF">2025-08-27T08:22:37Z</dcterms:created>
  <dcterms:modified xsi:type="dcterms:W3CDTF">2025-09-18T17:56:20Z</dcterms:modified>
</cp:coreProperties>
</file>